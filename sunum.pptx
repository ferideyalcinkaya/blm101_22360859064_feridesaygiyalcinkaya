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64" r:id="rId14"/>
    <p:sldId id="270" r:id="rId15"/>
    <p:sldId id="271" r:id="rId16"/>
    <p:sldId id="280" r:id="rId17"/>
    <p:sldId id="272" r:id="rId18"/>
    <p:sldId id="273" r:id="rId19"/>
    <p:sldId id="274" r:id="rId20"/>
    <p:sldId id="275" r:id="rId21"/>
    <p:sldId id="281" r:id="rId22"/>
    <p:sldId id="276" r:id="rId23"/>
    <p:sldId id="279" r:id="rId24"/>
    <p:sldId id="277" r:id="rId25"/>
    <p:sldId id="278" r:id="rId26"/>
    <p:sldId id="282" r:id="rId2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1776E-EEAF-48A1-BC55-A86A43CAF2C5}" v="4" dt="2026-01-11T11:28:54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ide Saygı Yalçınkaya" userId="9d3c08f59586b895" providerId="LiveId" clId="{6BF19C12-327A-4109-B539-2383A70F089F}"/>
    <pc:docChg chg="addSld modSld sldOrd">
      <pc:chgData name="Feride Saygı Yalçınkaya" userId="9d3c08f59586b895" providerId="LiveId" clId="{6BF19C12-327A-4109-B539-2383A70F089F}" dt="2026-01-11T11:29:26.070" v="106" actId="5793"/>
      <pc:docMkLst>
        <pc:docMk/>
      </pc:docMkLst>
      <pc:sldChg chg="addSp delSp modSp new mod ord">
        <pc:chgData name="Feride Saygı Yalçınkaya" userId="9d3c08f59586b895" providerId="LiveId" clId="{6BF19C12-327A-4109-B539-2383A70F089F}" dt="2026-01-11T11:29:26.070" v="106" actId="5793"/>
        <pc:sldMkLst>
          <pc:docMk/>
          <pc:sldMk cId="392403776" sldId="282"/>
        </pc:sldMkLst>
        <pc:spChg chg="mod">
          <ac:chgData name="Feride Saygı Yalçınkaya" userId="9d3c08f59586b895" providerId="LiveId" clId="{6BF19C12-327A-4109-B539-2383A70F089F}" dt="2026-01-11T11:28:59.779" v="100" actId="14100"/>
          <ac:spMkLst>
            <pc:docMk/>
            <pc:sldMk cId="392403776" sldId="282"/>
            <ac:spMk id="2" creationId="{E865A19A-AC5B-1708-3FC6-0740159E8F15}"/>
          </ac:spMkLst>
        </pc:spChg>
        <pc:spChg chg="del mod">
          <ac:chgData name="Feride Saygı Yalçınkaya" userId="9d3c08f59586b895" providerId="LiveId" clId="{6BF19C12-327A-4109-B539-2383A70F089F}" dt="2026-01-11T11:28:28.482" v="94"/>
          <ac:spMkLst>
            <pc:docMk/>
            <pc:sldMk cId="392403776" sldId="282"/>
            <ac:spMk id="3" creationId="{36CA1C12-579D-DCAF-C534-6687D1F9B18F}"/>
          </ac:spMkLst>
        </pc:spChg>
        <pc:spChg chg="add mod">
          <ac:chgData name="Feride Saygı Yalçınkaya" userId="9d3c08f59586b895" providerId="LiveId" clId="{6BF19C12-327A-4109-B539-2383A70F089F}" dt="2026-01-11T11:29:26.070" v="106" actId="5793"/>
          <ac:spMkLst>
            <pc:docMk/>
            <pc:sldMk cId="392403776" sldId="282"/>
            <ac:spMk id="4" creationId="{C8F2B487-B0F3-3C25-8951-4EDA2BCD50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2F2BF8-92B9-C2FE-5857-787C26803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5932F32-266E-5BEA-44CC-0F15B5345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EE0BAFE-E040-B365-FCBE-A8615126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2FF51F-7FCB-20EA-AACE-DEBDFF9CF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757384-CA55-8AD6-EED6-7F91273C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40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E3BA52-4418-53AB-2C80-4A76DE1A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F0FA96-20E9-09AF-0304-85A01E188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F76C30-1356-78C0-058F-71C8559D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F1E6B1-47C1-B30C-66FB-C725BCDD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7229BCD-4F44-134D-4050-197668C0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040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B04F6E-6A88-E64B-7E01-3F0A0E1F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47055D6-647D-3C2F-F79F-B971A7652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8E0CC0E-C04A-E7D5-8EF2-D633CC53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67B87EB-A312-8433-1165-0C5599BA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443EC9-8559-1AEF-401E-55BA7656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664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59A341-69C3-DE2E-6AB3-F8F99715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D4977B-5305-79EB-D08C-801A95933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A9D06C6-B73D-78AD-E94E-60B786E8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D226224-653E-550B-0256-11B5ABB7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EFFBE41-4691-31C7-A22C-B716562E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A3DF902-7160-AB6F-AA8E-CECD0657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76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26703D-E4CC-1589-F8D9-68D6BBCE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DD81AD1-F00F-ED44-32AD-345A8F751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B1FDF5C-0C21-AA14-FFF7-7C0DED77A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AC28A24-1B46-0D9F-9F37-19D6F99C7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32FD280-291F-FADC-905E-6A113847E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1142710-B7FB-EB6B-BF10-5DA6A301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B1C957B-B94F-406B-BBC5-F7F01094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5052F30-330E-EDF6-9766-715B37BA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162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475FB2-BE7F-7821-268D-E1229631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BA965F0-AB94-E463-1500-A946DD2A7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649CA92-2196-6CE0-83A0-4DD8BCFE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F6C8C0E-6A30-C04C-C686-6A1697DA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131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A2B0747-EE9F-FC39-6CFB-6F0AC887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92EFFAF-12C8-A3D4-B31B-CC4DC49D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6CA1CB1-671B-ED5A-E65D-AEA7873A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438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36B122-4B0B-D3E3-9162-A0C84C30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0D264D-801A-A6AE-9154-378750DA5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BEC89E0-ED63-5AFC-12CC-43A76A571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CB75C8C-9F98-3163-1907-736FB7F9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88E9D26-123E-70D2-DFD4-DAAA73F6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65990A2-82F3-211C-912B-6BC1F8EB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729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0B36FB-AE1F-82A8-516A-C59FAE6F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C095F3F-B35C-1B58-F554-E7587E9AD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8CECEDB-2CC1-2933-3CA4-79D9FBB34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70A9B3D-7A68-53D1-1585-BDDCBE94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4A12CBC-0EF4-5C57-2D12-406DA629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D82382-3DE2-3D8C-117D-62889167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687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B848D7-8CA7-404E-F7D7-7944EEAA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9B7D7F6-7E10-522B-47E5-98E899607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FA57B98-3A95-F7F7-1F0A-90685F42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F269702-D9EF-C392-2349-7191D798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A6FCC2E-8021-F659-1751-E1509403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83BCA90-F8D3-98B8-219D-3F42E3861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E74246F-19F7-26A7-0C8E-537351D44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6B26FF-53A5-F3E2-9B4D-83C674CB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3A04563-8AFD-E13B-F829-71D2114A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7F3D8B8-5B02-97E1-5150-9DA2A22B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04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ECCD03C-54E5-2173-8C26-22A6DDA6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3CA42A7-1667-CE52-A99B-BD42BD872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C747E96-543C-C05E-F786-D9906EE6C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32D90-81EF-4261-A030-A5E7E9E8B71E}" type="datetimeFigureOut">
              <a:rPr lang="tr-TR" smtClean="0"/>
              <a:t>11.01.2026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67ADED-DF35-9022-6868-A8D1586B2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0E1DC9B-C269-A827-23EF-FACA496B8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864C7-ADAA-4C36-8169-E7A7CE190F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468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A5D20D-4630-54CF-98EE-D882EADEB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5239"/>
            <a:ext cx="9144000" cy="2271251"/>
          </a:xfrm>
        </p:spPr>
        <p:txBody>
          <a:bodyPr/>
          <a:lstStyle/>
          <a:p>
            <a:r>
              <a:rPr lang="tr-TR" dirty="0"/>
              <a:t>Bilgisayar Mühendisliğine Giriş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6597E27-92FA-64C9-8A77-AFB11FB9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03639"/>
            <a:ext cx="9144000" cy="1954161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Feride Saygı Yalçınkaya-22360859064</a:t>
            </a:r>
          </a:p>
          <a:p>
            <a:r>
              <a:rPr lang="tr-TR" dirty="0"/>
              <a:t>Sunum İçeriği:</a:t>
            </a:r>
          </a:p>
          <a:p>
            <a:r>
              <a:rPr lang="tr-TR" dirty="0"/>
              <a:t> 1)İnternet ve Web (WWW) arasındaki fark</a:t>
            </a:r>
          </a:p>
          <a:p>
            <a:r>
              <a:rPr lang="tr-TR" dirty="0"/>
              <a:t>2) HTML ve XML nedir?</a:t>
            </a:r>
          </a:p>
          <a:p>
            <a:r>
              <a:rPr lang="tr-TR" dirty="0"/>
              <a:t>3)İstemci (Browser) ve Sunucu (Server) ilişkisi</a:t>
            </a:r>
          </a:p>
        </p:txBody>
      </p:sp>
    </p:spTree>
    <p:extLst>
      <p:ext uri="{BB962C8B-B14F-4D97-AF65-F5344CB8AC3E}">
        <p14:creationId xmlns:p14="http://schemas.microsoft.com/office/powerpoint/2010/main" val="369053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56EF5A-70F3-4323-2CD8-12622052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İnternet Nedir ve Ne İşe Yarar?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FDA2E1-1BB8-93D8-953D-19B1985E1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İnternet dünyayı saran bir ağdır.</a:t>
            </a:r>
          </a:p>
          <a:p>
            <a:pPr marL="0" indent="0">
              <a:buNone/>
            </a:pPr>
            <a:r>
              <a:rPr lang="tr-TR" dirty="0"/>
              <a:t>--Başlangıçtaki asıl amaç çeşitli ağları birleştirip yerel afetlerden etkilenmeyen ve birbirine bağlı bir sistem kurmaktı.</a:t>
            </a:r>
          </a:p>
          <a:p>
            <a:pPr marL="0" indent="0">
              <a:buNone/>
            </a:pPr>
            <a:r>
              <a:rPr lang="tr-TR" dirty="0"/>
              <a:t>--Bugün, PAN LAN MAN ve WAN’ </a:t>
            </a:r>
            <a:r>
              <a:rPr lang="tr-TR" dirty="0" err="1"/>
              <a:t>ların</a:t>
            </a:r>
            <a:r>
              <a:rPr lang="tr-TR" dirty="0"/>
              <a:t> milyonlarca bilgisayarı içeren dünya çapındaki bir kombinasyonunu bağlayan bir ticari girişimdir.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740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31667B-A4BB-FA58-3D65-8443BE6C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41077" cy="854075"/>
          </a:xfrm>
        </p:spPr>
        <p:txBody>
          <a:bodyPr/>
          <a:lstStyle/>
          <a:p>
            <a:r>
              <a:rPr lang="tr-TR" dirty="0"/>
              <a:t>İnternet Tarihi: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0F99A6-CFD8-A37C-A60A-F6328B46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1324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/>
              <a:t>1. Temeller: ARPANET (1960'lar - 1970'ler)</a:t>
            </a:r>
          </a:p>
          <a:p>
            <a:r>
              <a:rPr lang="tr-TR" dirty="0"/>
              <a:t>İnternetin atası, ABD Savunma Bakanlığı tarafından desteklenen </a:t>
            </a:r>
            <a:r>
              <a:rPr lang="tr-TR" b="1" dirty="0" err="1"/>
              <a:t>ARPANET</a:t>
            </a:r>
            <a:r>
              <a:rPr lang="tr-TR" dirty="0" err="1"/>
              <a:t>'tir</a:t>
            </a:r>
            <a:r>
              <a:rPr lang="tr-TR" dirty="0"/>
              <a:t>. Temel amaç, nükleer bir saldırı gibi durumlarda bile iletişimin kesilmeyeceği dağıtık bir ağ kurmaktı.</a:t>
            </a:r>
          </a:p>
          <a:p>
            <a:r>
              <a:rPr lang="tr-TR" b="1" dirty="0"/>
              <a:t>1969:</a:t>
            </a:r>
            <a:r>
              <a:rPr lang="tr-TR" dirty="0"/>
              <a:t> İlk mesaj, UCLA ile Stanford Araştırma Enstitüsü arasındaki iki bilgisayar arasında gönderildi.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2. Standartlaşma: TCP/IP (1980'ler)</a:t>
            </a:r>
          </a:p>
          <a:p>
            <a:r>
              <a:rPr lang="tr-TR" dirty="0"/>
              <a:t>Farklı ağların birbiriyle konuşabilmesi için ortak bir "dil" gerekiyordu.</a:t>
            </a:r>
          </a:p>
          <a:p>
            <a:r>
              <a:rPr lang="tr-TR" b="1" dirty="0"/>
              <a:t>1983:</a:t>
            </a:r>
            <a:r>
              <a:rPr lang="tr-TR" dirty="0"/>
              <a:t> </a:t>
            </a:r>
            <a:r>
              <a:rPr lang="tr-TR" b="1" dirty="0"/>
              <a:t>TCP/IP</a:t>
            </a:r>
            <a:r>
              <a:rPr lang="tr-TR" dirty="0"/>
              <a:t> protokolü standart hale getirildi. Bu tarih, modern internetin resmi doğum günü olarak kabul edilir.</a:t>
            </a:r>
          </a:p>
          <a:p>
            <a:r>
              <a:rPr lang="tr-TR" b="1" dirty="0"/>
              <a:t>DNS:</a:t>
            </a:r>
            <a:r>
              <a:rPr lang="tr-TR" dirty="0"/>
              <a:t> Bilgisayarların birbirini bulması için rakamlar yerine (IP adresleri) "https://www.google.com/search?q=google.com" gibi isimlerin kullanıldığı </a:t>
            </a:r>
            <a:r>
              <a:rPr lang="tr-TR" b="1" dirty="0"/>
              <a:t>Alan Adı Sistemi</a:t>
            </a:r>
            <a:r>
              <a:rPr lang="tr-TR" dirty="0"/>
              <a:t> geliştirildi.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5163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0FF3DF-818C-42EB-4BB1-5DEBA4567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574"/>
            <a:ext cx="10515600" cy="53313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/>
              <a:t>3. Web'in Doğuşu: WWW (1990'lar)</a:t>
            </a:r>
          </a:p>
          <a:p>
            <a:r>
              <a:rPr lang="tr-TR" dirty="0"/>
              <a:t>İnternet başlangıçta sadece metin tabanlı ve teknik bir yapıydı.</a:t>
            </a:r>
          </a:p>
          <a:p>
            <a:r>
              <a:rPr lang="tr-TR" b="1" dirty="0"/>
              <a:t>1989/1991:</a:t>
            </a:r>
            <a:r>
              <a:rPr lang="tr-TR" dirty="0"/>
              <a:t> Tim </a:t>
            </a:r>
            <a:r>
              <a:rPr lang="tr-TR" dirty="0" err="1"/>
              <a:t>Berners</a:t>
            </a:r>
            <a:r>
              <a:rPr lang="tr-TR" dirty="0"/>
              <a:t>-Lee, </a:t>
            </a:r>
            <a:r>
              <a:rPr lang="tr-TR" dirty="0" err="1"/>
              <a:t>CERN'de</a:t>
            </a:r>
            <a:r>
              <a:rPr lang="tr-TR" dirty="0"/>
              <a:t> </a:t>
            </a:r>
            <a:r>
              <a:rPr lang="tr-TR" b="1" dirty="0"/>
              <a:t>World </a:t>
            </a:r>
            <a:r>
              <a:rPr lang="tr-TR" b="1" dirty="0" err="1"/>
              <a:t>Wide</a:t>
            </a:r>
            <a:r>
              <a:rPr lang="tr-TR" b="1" dirty="0"/>
              <a:t> Web (WWW)</a:t>
            </a:r>
            <a:r>
              <a:rPr lang="tr-TR" dirty="0"/>
              <a:t> sistemini icat etti. HTML ve HTTP sayesinde internet görselleşti ve herkesin erişebileceği bir hal aldı.</a:t>
            </a:r>
          </a:p>
          <a:p>
            <a:r>
              <a:rPr lang="tr-TR" b="1" dirty="0"/>
              <a:t>1990'ların sonu:</a:t>
            </a:r>
            <a:r>
              <a:rPr lang="tr-TR" dirty="0"/>
              <a:t> Google, Amazon ve eBay gibi devler kurularak "</a:t>
            </a:r>
            <a:r>
              <a:rPr lang="tr-TR" dirty="0" err="1"/>
              <a:t>Dot</a:t>
            </a:r>
            <a:r>
              <a:rPr lang="tr-TR" dirty="0"/>
              <a:t>-com" dönemi başladı.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4. Sosyal ve Mobil Devrim (2000'ler - 2010'lar)</a:t>
            </a:r>
          </a:p>
          <a:p>
            <a:r>
              <a:rPr lang="tr-TR" dirty="0"/>
              <a:t>İnternet artık sadece bilgi tüketilen bir yer olmaktan çıkıp, içerik üretilen bir yere dönüştü.</a:t>
            </a:r>
          </a:p>
          <a:p>
            <a:r>
              <a:rPr lang="tr-TR" b="1" dirty="0"/>
              <a:t>Web 2.0:</a:t>
            </a:r>
            <a:r>
              <a:rPr lang="tr-TR" dirty="0"/>
              <a:t> Facebook, YouTube ve Twitter gibi platformlarla sosyal medya çağı başladı.</a:t>
            </a:r>
          </a:p>
          <a:p>
            <a:r>
              <a:rPr lang="tr-TR" b="1" dirty="0"/>
              <a:t>Akıllı Telefonlar:</a:t>
            </a:r>
            <a:r>
              <a:rPr lang="tr-TR" dirty="0"/>
              <a:t> iPhone'un çıkışıyla (2007) internet cebimize girdi ve 7/24 çevrimiçi bir yaşam tarzı oluştu.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0959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C90285-7A42-90F0-EBF1-E56B32D5C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5. Bugün ve Gelecek</a:t>
            </a:r>
          </a:p>
          <a:p>
            <a:r>
              <a:rPr lang="tr-TR" dirty="0"/>
              <a:t>Günümüzde internet; </a:t>
            </a:r>
            <a:r>
              <a:rPr lang="tr-TR" b="1" dirty="0"/>
              <a:t>Yapay Zeka</a:t>
            </a:r>
            <a:r>
              <a:rPr lang="tr-TR" dirty="0"/>
              <a:t>, </a:t>
            </a:r>
            <a:r>
              <a:rPr lang="tr-TR" b="1" dirty="0"/>
              <a:t>Nesnelerin İnterneti (</a:t>
            </a:r>
            <a:r>
              <a:rPr lang="tr-TR" b="1" dirty="0" err="1"/>
              <a:t>IoT</a:t>
            </a:r>
            <a:r>
              <a:rPr lang="tr-TR" b="1" dirty="0"/>
              <a:t>)</a:t>
            </a:r>
            <a:r>
              <a:rPr lang="tr-TR" dirty="0"/>
              <a:t> ve </a:t>
            </a:r>
            <a:r>
              <a:rPr lang="tr-TR" b="1" dirty="0"/>
              <a:t>Bulut Bilişim</a:t>
            </a:r>
            <a:r>
              <a:rPr lang="tr-TR" dirty="0"/>
              <a:t> ile şekilleniyor. İnternet artık sadece bilgisayarlarda değil; saatlerimizde, arabalarımızda ve ev eşyalarımızda yaşıyor.</a:t>
            </a:r>
          </a:p>
          <a:p>
            <a:endParaRPr lang="tr-TR" dirty="0"/>
          </a:p>
        </p:txBody>
      </p:sp>
      <p:sp>
        <p:nvSpPr>
          <p:cNvPr id="5" name="Başlık 4">
            <a:extLst>
              <a:ext uri="{FF2B5EF4-FFF2-40B4-BE49-F238E27FC236}">
                <a16:creationId xmlns:a16="http://schemas.microsoft.com/office/drawing/2014/main" id="{C374FE92-119C-3F0B-9594-E1BB92CF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148815"/>
            <a:ext cx="10515600" cy="1325563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3518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7C6387-6E34-A754-ECE4-366136E1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WEB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1A4FDF-8B29-4F06-850C-1DA403F83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Web</a:t>
            </a:r>
            <a:r>
              <a:rPr lang="tr-TR" dirty="0"/>
              <a:t> (World </a:t>
            </a:r>
            <a:r>
              <a:rPr lang="tr-TR" dirty="0" err="1"/>
              <a:t>Wide</a:t>
            </a:r>
            <a:r>
              <a:rPr lang="tr-TR" dirty="0"/>
              <a:t> Web), internet üzerinde bulunan </a:t>
            </a:r>
            <a:r>
              <a:rPr lang="tr-TR" dirty="0" err="1"/>
              <a:t>dökümanların</a:t>
            </a:r>
            <a:r>
              <a:rPr lang="tr-TR" dirty="0"/>
              <a:t>, resimlerin ve videoların birbirine bağlandığı bir </a:t>
            </a:r>
            <a:r>
              <a:rPr lang="tr-TR" b="1" dirty="0"/>
              <a:t>bilgi paylaşım sistemidir.</a:t>
            </a:r>
          </a:p>
          <a:p>
            <a:pPr marL="0" indent="0">
              <a:buNone/>
            </a:pPr>
            <a:r>
              <a:rPr lang="tr-TR" b="1" dirty="0"/>
              <a:t>Web Nasıl Çalışır?</a:t>
            </a:r>
          </a:p>
          <a:p>
            <a:r>
              <a:rPr lang="tr-TR" dirty="0"/>
              <a:t>Web'in çalışması üç ana bileşene dayanır:</a:t>
            </a:r>
          </a:p>
          <a:p>
            <a:r>
              <a:rPr lang="tr-TR" b="1" dirty="0"/>
              <a:t>HTML:</a:t>
            </a:r>
            <a:r>
              <a:rPr lang="tr-TR" dirty="0"/>
              <a:t> Web sayfalarının iskeletini oluşturan dil.</a:t>
            </a:r>
          </a:p>
          <a:p>
            <a:r>
              <a:rPr lang="tr-TR" b="1" dirty="0"/>
              <a:t>HTTP:</a:t>
            </a:r>
            <a:r>
              <a:rPr lang="tr-TR" dirty="0"/>
              <a:t> Bilgilerin tarayıcınıza (Chrome, Safari vb.) nasıl taşınacağını belirleyen kural seti.</a:t>
            </a:r>
          </a:p>
          <a:p>
            <a:r>
              <a:rPr lang="tr-TR" b="1" dirty="0"/>
              <a:t>URL:</a:t>
            </a:r>
            <a:r>
              <a:rPr lang="tr-TR" dirty="0"/>
              <a:t> Her web sayfasının kendine özgü olan dijital adresi.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5507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0C7748-AF16-EC11-EA8F-987D74C6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10C0B9-7038-E107-6881-86A89BC7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Hypertext</a:t>
            </a:r>
            <a:r>
              <a:rPr lang="tr-TR" dirty="0"/>
              <a:t> internet teknolojisini bağlı-dosya konsepti ile birleştirir,</a:t>
            </a:r>
          </a:p>
          <a:p>
            <a:pPr marL="0" indent="0">
              <a:buNone/>
            </a:pPr>
            <a:r>
              <a:rPr lang="tr-TR" dirty="0" err="1"/>
              <a:t>Hiperlinkleri</a:t>
            </a:r>
            <a:r>
              <a:rPr lang="tr-TR" dirty="0"/>
              <a:t> dosyalara gömer.</a:t>
            </a:r>
          </a:p>
          <a:p>
            <a:pPr marL="0" indent="0">
              <a:buNone/>
            </a:pPr>
            <a:r>
              <a:rPr lang="tr-TR" dirty="0"/>
              <a:t>• Browser’lar (internet tarayıcı) kullanıcılara internette gezinme için araçlar sunar.</a:t>
            </a:r>
          </a:p>
          <a:p>
            <a:pPr marL="0" indent="0">
              <a:buNone/>
            </a:pPr>
            <a:r>
              <a:rPr lang="tr-TR" dirty="0"/>
              <a:t>• Web sunucuları dosyaları barındırarak onlara daimi erişim sağlar.</a:t>
            </a:r>
          </a:p>
          <a:p>
            <a:pPr marL="0" indent="0">
              <a:buNone/>
            </a:pPr>
            <a:r>
              <a:rPr lang="tr-TR" dirty="0"/>
              <a:t>• Dosyalar URL’ler olarak adreslenir ve HTTP kullanılarak transfer edilir.</a:t>
            </a:r>
          </a:p>
        </p:txBody>
      </p:sp>
    </p:spTree>
    <p:extLst>
      <p:ext uri="{BB962C8B-B14F-4D97-AF65-F5344CB8AC3E}">
        <p14:creationId xmlns:p14="http://schemas.microsoft.com/office/powerpoint/2010/main" val="220960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2DAC62-C121-9364-32BE-1BDD2919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İnternet ve WEB Arasındaki Fark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F98643-466A-E138-77EA-BB3E207E4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İnternet: Altyapı (Donanım):</a:t>
            </a:r>
          </a:p>
          <a:p>
            <a:r>
              <a:rPr lang="tr-TR" dirty="0"/>
              <a:t>İnternet, milyonlarca bilgisayarı, telefonu, sunucuyu ve akıllı cihazı birbirine bağlayan fiziksel bir ağdır. Yer altından geçen devasa fiber optik kablolar, uydular, yönlendiriciler (</a:t>
            </a:r>
            <a:r>
              <a:rPr lang="tr-TR" dirty="0" err="1"/>
              <a:t>router</a:t>
            </a:r>
            <a:r>
              <a:rPr lang="tr-TR" dirty="0"/>
              <a:t>) ve </a:t>
            </a:r>
            <a:r>
              <a:rPr lang="tr-TR" dirty="0" err="1"/>
              <a:t>Wi</a:t>
            </a:r>
            <a:r>
              <a:rPr lang="tr-TR" dirty="0"/>
              <a:t>-Fi sinyalleri internetin kendisidir.</a:t>
            </a:r>
          </a:p>
          <a:p>
            <a:r>
              <a:rPr lang="tr-TR" dirty="0"/>
              <a:t> İnterneti, dünya çapındaki devasa bir </a:t>
            </a:r>
            <a:r>
              <a:rPr lang="tr-TR" b="1" dirty="0"/>
              <a:t>demiryolu ağına</a:t>
            </a:r>
            <a:r>
              <a:rPr lang="tr-TR" dirty="0"/>
              <a:t> benzetebiliriz. Bu ağ, verilerin bir noktadan diğerine gitmesini sağlar.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9399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94A7D6-13ED-44E9-5169-AB245570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7881183-D90F-7A87-5ED7-B4E8E633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Web (WWW): Bir Hizmet (Yazılım):</a:t>
            </a:r>
          </a:p>
          <a:p>
            <a:r>
              <a:rPr lang="tr-TR" dirty="0"/>
              <a:t>Web ise bu devasa altyapı üzerinde çalışan servislerden sadece biridir. Tarayıcınızı açıp bir adres yazdığınızda ulaştığınız o birbirine bağlı sayfalar, resimler ve videolardan oluşan bütündür. Demiryolu benzetmesine dönersek; Web, bu raylar üzerinde giden </a:t>
            </a:r>
            <a:r>
              <a:rPr lang="tr-TR" b="1" dirty="0"/>
              <a:t>yolcu trenidir.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3318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3CEBE-02C1-B636-182D-C60980B8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426677" cy="31591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C39E72-F09E-D4C5-6068-D88B6CF6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5910"/>
            <a:ext cx="10515600" cy="552572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/>
              <a:t>Aradaki Temel Farkı Gösteren Örnekler:</a:t>
            </a:r>
          </a:p>
          <a:p>
            <a:r>
              <a:rPr lang="tr-TR" dirty="0"/>
              <a:t>İnterneti kullandığınız her an Web’de olmayabilirsiniz. </a:t>
            </a:r>
          </a:p>
          <a:p>
            <a:pPr marL="0" indent="0">
              <a:buNone/>
            </a:pPr>
            <a:r>
              <a:rPr lang="tr-TR" dirty="0"/>
              <a:t>Örneğin:</a:t>
            </a:r>
          </a:p>
          <a:p>
            <a:r>
              <a:rPr lang="tr-TR" b="1" dirty="0"/>
              <a:t>WhatsApp veya Telegram</a:t>
            </a:r>
            <a:r>
              <a:rPr lang="tr-TR" dirty="0"/>
              <a:t> üzerinden mesajlaştığınızda interneti kullanırsınız ama Web’i kullanmazsınız.</a:t>
            </a:r>
          </a:p>
          <a:p>
            <a:r>
              <a:rPr lang="tr-TR" b="1" dirty="0"/>
              <a:t>Online bir oyun</a:t>
            </a:r>
            <a:r>
              <a:rPr lang="tr-TR" dirty="0"/>
              <a:t> oynadığınızda (örneğin </a:t>
            </a:r>
            <a:r>
              <a:rPr lang="tr-TR" dirty="0" err="1"/>
              <a:t>Fortnite</a:t>
            </a:r>
            <a:r>
              <a:rPr lang="tr-TR" dirty="0"/>
              <a:t> veya </a:t>
            </a:r>
            <a:r>
              <a:rPr lang="tr-TR" dirty="0" err="1"/>
              <a:t>Roblox</a:t>
            </a:r>
            <a:r>
              <a:rPr lang="tr-TR" dirty="0"/>
              <a:t>) internet altyapısını kullanırsınız ama bir web sitesinde değilsinizdir.</a:t>
            </a:r>
          </a:p>
          <a:p>
            <a:r>
              <a:rPr lang="tr-TR" b="1" dirty="0"/>
              <a:t>E-posta</a:t>
            </a:r>
            <a:r>
              <a:rPr lang="tr-TR" dirty="0"/>
              <a:t> gönderdiğinizde (Outlook veya Apple Mail uygulaması üzerinden) yine interneti kullanırsınız ama bu teknik olarak Web değildir.</a:t>
            </a:r>
          </a:p>
          <a:p>
            <a:r>
              <a:rPr lang="tr-TR" b="1" dirty="0"/>
              <a:t>Web</a:t>
            </a:r>
            <a:r>
              <a:rPr lang="tr-TR" dirty="0"/>
              <a:t>, yalnızca tarayıcıyla (Chrome, Safari gibi) görüntülediğiniz "www" ile başlayan dünyadır. </a:t>
            </a:r>
            <a:r>
              <a:rPr lang="tr-TR" b="1" dirty="0"/>
              <a:t>İnternet</a:t>
            </a:r>
            <a:r>
              <a:rPr lang="tr-TR" dirty="0"/>
              <a:t> ise tüm bu trafiğin akmasını sağlayan görünmez dev makinedir.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9049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B8C7C1-7EEE-95FD-901F-5B4EB260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A7A648-6868-FFC0-63EF-83390FE6F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HTML</a:t>
            </a:r>
            <a:r>
              <a:rPr lang="tr-TR" dirty="0"/>
              <a:t> (</a:t>
            </a:r>
            <a:r>
              <a:rPr lang="tr-TR" dirty="0" err="1"/>
              <a:t>HyperText</a:t>
            </a:r>
            <a:r>
              <a:rPr lang="tr-TR" dirty="0"/>
              <a:t> </a:t>
            </a:r>
            <a:r>
              <a:rPr lang="tr-TR" dirty="0" err="1"/>
              <a:t>Markup</a:t>
            </a:r>
            <a:r>
              <a:rPr lang="tr-TR" dirty="0"/>
              <a:t> Language), web sayfalarını oluşturmak için kullanılan standart </a:t>
            </a:r>
            <a:r>
              <a:rPr lang="tr-TR" b="1" dirty="0"/>
              <a:t>metin işaretleme dilidir.</a:t>
            </a:r>
            <a:r>
              <a:rPr lang="tr-TR" dirty="0"/>
              <a:t> Bir web sitesinin "iskeleti" veya "kılavuz tasarımı" olarak düşünülebilir.</a:t>
            </a:r>
          </a:p>
          <a:p>
            <a:r>
              <a:rPr lang="tr-TR" dirty="0"/>
              <a:t>Önemli bir nokta: HTML bir programlama dili değil, bir </a:t>
            </a:r>
            <a:r>
              <a:rPr lang="tr-TR" b="1" dirty="0"/>
              <a:t>işaretleme dilidir.</a:t>
            </a:r>
            <a:r>
              <a:rPr lang="tr-TR" dirty="0"/>
              <a:t> Yani bilgisayara komutlar vermez; tarayıcıya (Chrome, Safari gibi) sayfanın hangi kısmının başlık, hangi kısmının paragraf veya neresinin bir görsel olduğunu söyler.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7090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CFEC39-431C-7D87-88D9-0A2F35FA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525000" cy="31591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2E8EDE7-5D43-2D1C-D782-F64E69AA7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3"/>
            <a:ext cx="10515600" cy="54962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HTML Nasıl Çalışır?</a:t>
            </a:r>
          </a:p>
          <a:p>
            <a:r>
              <a:rPr lang="tr-TR" dirty="0"/>
              <a:t>HTML, </a:t>
            </a:r>
            <a:r>
              <a:rPr lang="tr-TR" b="1" dirty="0"/>
              <a:t>"etiketler" (</a:t>
            </a:r>
            <a:r>
              <a:rPr lang="tr-TR" b="1" dirty="0" err="1"/>
              <a:t>tags</a:t>
            </a:r>
            <a:r>
              <a:rPr lang="tr-TR" b="1" dirty="0"/>
              <a:t>)</a:t>
            </a:r>
            <a:r>
              <a:rPr lang="tr-TR" dirty="0"/>
              <a:t> kullanarak çalışır. Bu etiketler genellikle &lt; &gt; işaretleri arasına yazılır. Tarayıcınız bu kodları okur ama kullanıcıya göstermez; bunun yerine kodun tarif ettiği içeriği ekrana yansıtır.</a:t>
            </a:r>
          </a:p>
          <a:p>
            <a:pPr marL="0" indent="0">
              <a:buNone/>
            </a:pPr>
            <a:r>
              <a:rPr lang="tr-TR" b="1" dirty="0"/>
              <a:t>Temel Bileşenleri Nelerdir?</a:t>
            </a:r>
          </a:p>
          <a:p>
            <a:r>
              <a:rPr lang="tr-TR" dirty="0"/>
              <a:t>Bir HTML belgesindeki en yaygın öğeler şunlardır:</a:t>
            </a:r>
          </a:p>
          <a:p>
            <a:r>
              <a:rPr lang="tr-TR" b="1" dirty="0"/>
              <a:t>Başlıklar:</a:t>
            </a:r>
            <a:r>
              <a:rPr lang="tr-TR" dirty="0"/>
              <a:t> &lt;h1&gt;, &lt;h2&gt; gibi etiketlerle sayfanın ana ve alt başlıkları belirlenir.</a:t>
            </a:r>
          </a:p>
          <a:p>
            <a:r>
              <a:rPr lang="tr-TR" b="1" dirty="0"/>
              <a:t>Paragraflar:</a:t>
            </a:r>
            <a:r>
              <a:rPr lang="tr-TR" dirty="0"/>
              <a:t> &lt;p&gt; etiketi düz metinleri tanımlar.</a:t>
            </a:r>
          </a:p>
          <a:p>
            <a:r>
              <a:rPr lang="tr-TR" b="1" dirty="0"/>
              <a:t>Bağlantılar (Linkler):</a:t>
            </a:r>
            <a:r>
              <a:rPr lang="tr-TR" dirty="0"/>
              <a:t> &lt;a&gt; etiketi ile başka sayfalara köprüler kurulur.</a:t>
            </a:r>
          </a:p>
          <a:p>
            <a:r>
              <a:rPr lang="tr-TR" b="1" dirty="0"/>
              <a:t>Görseller:</a:t>
            </a:r>
            <a:r>
              <a:rPr lang="tr-TR" dirty="0"/>
              <a:t> &lt;</a:t>
            </a:r>
            <a:r>
              <a:rPr lang="tr-TR" dirty="0" err="1"/>
              <a:t>img</a:t>
            </a:r>
            <a:r>
              <a:rPr lang="tr-TR" dirty="0"/>
              <a:t>&gt; etiketi ile sayfaya resim eklenir.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6876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ECC579-C91E-2742-3BC5-0FD17945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Basit bir WEB Sayfası: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263C774-0338-762E-0634-949C4AB0A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522" y="2157949"/>
            <a:ext cx="5772956" cy="3686689"/>
          </a:xfrm>
        </p:spPr>
      </p:pic>
    </p:spTree>
    <p:extLst>
      <p:ext uri="{BB962C8B-B14F-4D97-AF65-F5344CB8AC3E}">
        <p14:creationId xmlns:p14="http://schemas.microsoft.com/office/powerpoint/2010/main" val="234496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1B4D194-30FF-F2AA-44C3-F369C4E7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XML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88A72D-897B-7ECD-34D2-8D86328A0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XML: </a:t>
            </a:r>
            <a:r>
              <a:rPr lang="tr-TR" dirty="0" err="1"/>
              <a:t>HTML’e</a:t>
            </a:r>
            <a:r>
              <a:rPr lang="tr-TR" dirty="0"/>
              <a:t> benzer olarak biçimlendirme dili kurmak için bir dildir.</a:t>
            </a:r>
          </a:p>
          <a:p>
            <a:r>
              <a:rPr lang="tr-TR" dirty="0"/>
              <a:t> – Standart Genelleştirilmiş Biçimlendirme Dilinin bir torunudur.</a:t>
            </a:r>
          </a:p>
          <a:p>
            <a:r>
              <a:rPr lang="tr-TR" dirty="0"/>
              <a:t> – Dünya Çağında Anlamsal bir Ağa kapıları açar.</a:t>
            </a:r>
          </a:p>
        </p:txBody>
      </p:sp>
    </p:spTree>
    <p:extLst>
      <p:ext uri="{BB962C8B-B14F-4D97-AF65-F5344CB8AC3E}">
        <p14:creationId xmlns:p14="http://schemas.microsoft.com/office/powerpoint/2010/main" val="3431792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161DBC-168F-FDFC-AD57-1BD03D79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DB230C-8E78-1624-97BC-27024A88A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 err="1"/>
              <a:t>XML'in</a:t>
            </a:r>
            <a:r>
              <a:rPr lang="tr-TR" b="1" dirty="0"/>
              <a:t> Temel Özellikleri:</a:t>
            </a:r>
          </a:p>
          <a:p>
            <a:r>
              <a:rPr lang="tr-TR" b="1" dirty="0"/>
              <a:t>Esnektir (Kendi Etiketini Oluştur):</a:t>
            </a:r>
            <a:r>
              <a:rPr lang="tr-TR" dirty="0"/>
              <a:t> </a:t>
            </a:r>
            <a:r>
              <a:rPr lang="tr-TR" dirty="0" err="1"/>
              <a:t>HTML'de</a:t>
            </a:r>
            <a:r>
              <a:rPr lang="tr-TR" dirty="0"/>
              <a:t> &lt;p&gt; veya &lt;h1&gt; gibi önceden tanımlanmış etiketler vardır. </a:t>
            </a:r>
            <a:r>
              <a:rPr lang="tr-TR" dirty="0" err="1"/>
              <a:t>XML'de</a:t>
            </a:r>
            <a:r>
              <a:rPr lang="tr-TR" dirty="0"/>
              <a:t> ise etiketleri siz belirlersiniz. Eğer bir kitap listesi yapıyorsanız &lt;kitap&gt;, &lt;yazar&gt;, &lt;fiyat&gt; gibi etiketler oluşturabilirsiniz.</a:t>
            </a:r>
          </a:p>
          <a:p>
            <a:r>
              <a:rPr lang="tr-TR" b="1" dirty="0"/>
              <a:t>Veri Taşımaya Odaklıdır:</a:t>
            </a:r>
            <a:r>
              <a:rPr lang="tr-TR" dirty="0"/>
              <a:t> Farklı sistemler (örneğin bir banka sistemi ile bir alışveriş sitesi) arasındaki veri alışverişini kolaylaştırır.</a:t>
            </a:r>
          </a:p>
          <a:p>
            <a:r>
              <a:rPr lang="tr-TR" b="1" dirty="0"/>
              <a:t>Hiyerarşiktir:</a:t>
            </a:r>
            <a:r>
              <a:rPr lang="tr-TR" dirty="0"/>
              <a:t> Veriler ağaç yapısına benzer bir düzen içinde tutulur.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2661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D9D61C-115E-76EB-30BF-72547195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Telefon Rehberi için XML Kullanımı:</a:t>
            </a:r>
          </a:p>
        </p:txBody>
      </p:sp>
      <p:pic>
        <p:nvPicPr>
          <p:cNvPr id="5" name="İçerik Yer Tutucusu 4" descr="metin, ekran görüntüsü, yazı tipi içeren bir resim">
            <a:extLst>
              <a:ext uri="{FF2B5EF4-FFF2-40B4-BE49-F238E27FC236}">
                <a16:creationId xmlns:a16="http://schemas.microsoft.com/office/drawing/2014/main" id="{E0FC18A1-1473-E875-FC3B-05B31A14C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180" y="2177002"/>
            <a:ext cx="5477639" cy="3648584"/>
          </a:xfrm>
        </p:spPr>
      </p:pic>
    </p:spTree>
    <p:extLst>
      <p:ext uri="{BB962C8B-B14F-4D97-AF65-F5344CB8AC3E}">
        <p14:creationId xmlns:p14="http://schemas.microsoft.com/office/powerpoint/2010/main" val="104694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332FE8-4BEB-665D-292C-F7A4E97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ve XML Arasındaki Farklar: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62D65B-3AB9-AF9A-7686-554FEE060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1)Temel Amaç (Görünüm vs. İçerik):</a:t>
            </a:r>
          </a:p>
          <a:p>
            <a:r>
              <a:rPr lang="tr-TR" b="1" dirty="0"/>
              <a:t>HTML:</a:t>
            </a:r>
            <a:r>
              <a:rPr lang="tr-TR" dirty="0"/>
              <a:t> Verinin </a:t>
            </a:r>
            <a:r>
              <a:rPr lang="tr-TR" b="1" dirty="0"/>
              <a:t>nasıl görüneceğiyle</a:t>
            </a:r>
            <a:r>
              <a:rPr lang="tr-TR" dirty="0"/>
              <a:t> ilgilenir. Yazı kalın mı olsun, başlık nerede dursun, hangi resim eklensin gibi tasarım odaklıdır. Bir sunum dilidir.</a:t>
            </a:r>
          </a:p>
          <a:p>
            <a:r>
              <a:rPr lang="tr-TR" b="1" dirty="0"/>
              <a:t>XML:</a:t>
            </a:r>
            <a:r>
              <a:rPr lang="tr-TR" dirty="0"/>
              <a:t> Verinin </a:t>
            </a:r>
            <a:r>
              <a:rPr lang="tr-TR" b="1" dirty="0"/>
              <a:t>ne olduğuyla</a:t>
            </a:r>
            <a:r>
              <a:rPr lang="tr-TR" dirty="0"/>
              <a:t> ilgilenir. Bilginin yapısını tanımlar ve bu bilgiyi bir sistemden diğerine hatasız taşımayı amaçlar. Bir veri taşıma ve depolama dilidir.</a:t>
            </a:r>
          </a:p>
          <a:p>
            <a:pPr marL="0" indent="0">
              <a:buNone/>
            </a:pPr>
            <a:r>
              <a:rPr lang="tr-TR" b="1" dirty="0"/>
              <a:t>2)Etiket Esnekliği:</a:t>
            </a:r>
          </a:p>
          <a:p>
            <a:r>
              <a:rPr lang="tr-TR" b="1" dirty="0"/>
              <a:t>HTML:</a:t>
            </a:r>
            <a:r>
              <a:rPr lang="tr-TR" dirty="0"/>
              <a:t> Etiketler </a:t>
            </a:r>
            <a:r>
              <a:rPr lang="tr-TR" b="1" dirty="0"/>
              <a:t>önceden tanımlanmıştır.</a:t>
            </a:r>
            <a:r>
              <a:rPr lang="tr-TR" dirty="0"/>
              <a:t> Sadece &lt;h1&gt;, &lt;p&gt;, &lt;div&gt; gibi standart etiketleri kullanabilirsiniz. Kendi kafanıza göre &lt;kitap&gt; diye bir etiket oluşturamazsınız, tarayıcı bunu anlamaz.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00138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CFA076-0F9B-E6D7-5943-EE7A8769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C19D4B-017C-67DC-3A4B-EF138B027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XML:</a:t>
            </a:r>
            <a:r>
              <a:rPr lang="tr-TR" dirty="0"/>
              <a:t> Etiketler </a:t>
            </a:r>
            <a:r>
              <a:rPr lang="tr-TR" b="1" dirty="0"/>
              <a:t>genişletilebilir ve özgürdür.</a:t>
            </a:r>
            <a:r>
              <a:rPr lang="tr-TR" dirty="0"/>
              <a:t> Kendi etiketlerinizi ihtiyacınıza göre oluşturursunuz. Örneğin bir kütüphane sistemi için &lt;yazar&gt;, &lt;</a:t>
            </a:r>
            <a:r>
              <a:rPr lang="tr-TR" dirty="0" err="1"/>
              <a:t>sayfa_sayisi</a:t>
            </a:r>
            <a:r>
              <a:rPr lang="tr-TR" dirty="0"/>
              <a:t>&gt; gibi tamamen size özel etiketler tanımlayabilirsiniz.</a:t>
            </a:r>
          </a:p>
          <a:p>
            <a:pPr marL="0" indent="0">
              <a:buNone/>
            </a:pPr>
            <a:r>
              <a:rPr lang="tr-TR" b="1" dirty="0"/>
              <a:t>3)Yazım Kuralları (Esneklik vs. Katılık):</a:t>
            </a:r>
          </a:p>
          <a:p>
            <a:r>
              <a:rPr lang="tr-TR" b="1" dirty="0"/>
              <a:t>HTML:</a:t>
            </a:r>
            <a:r>
              <a:rPr lang="tr-TR" dirty="0"/>
              <a:t> Hatalara karşı oldukça </a:t>
            </a:r>
            <a:r>
              <a:rPr lang="tr-TR" b="1" dirty="0"/>
              <a:t>hoşgörülüdür.</a:t>
            </a:r>
            <a:r>
              <a:rPr lang="tr-TR" dirty="0"/>
              <a:t> Bir etiketi kapatmayı unutsanız bile (örneğin &lt;p&gt; yazıp sonuna &lt;/p&gt; koymasanız da) tarayıcılar genellikle sayfayı bir şekilde düzgün gösterir. Büyük/küçük harfe duyarlı değildir (&lt;BODY&gt; ve &lt;body&gt; aynıdır).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07513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EFC4B5-437D-38B9-612F-8D3BB46B3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50BD10C-E065-8E00-F177-D773D98E2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XML:</a:t>
            </a:r>
            <a:r>
              <a:rPr lang="tr-TR" dirty="0"/>
              <a:t> Kuralları çok </a:t>
            </a:r>
            <a:r>
              <a:rPr lang="tr-TR" b="1" dirty="0"/>
              <a:t>katıdır.</a:t>
            </a:r>
            <a:r>
              <a:rPr lang="tr-TR" dirty="0"/>
              <a:t> Bir etiketi kapatmazsanız veya yanlış hiyerarşi kurarsanız dosya hata verir ve çalışmaz. Ayrıca büyük/küçük harfe duyarlıdır (&lt;Veri&gt; ile &lt;veri&gt; farklı etiketlerdir).</a:t>
            </a:r>
          </a:p>
          <a:p>
            <a:r>
              <a:rPr lang="tr-TR" b="1" dirty="0"/>
              <a:t>4)Dinamiklik ve Depolama:</a:t>
            </a:r>
          </a:p>
          <a:p>
            <a:r>
              <a:rPr lang="tr-TR" b="1" dirty="0"/>
              <a:t>HTML:</a:t>
            </a:r>
            <a:r>
              <a:rPr lang="tr-TR" dirty="0"/>
              <a:t> Genellikle statiktir; içeriği doğrudan kullanıcıya göstermek için kullanılır.</a:t>
            </a:r>
          </a:p>
          <a:p>
            <a:r>
              <a:rPr lang="tr-TR" b="1" dirty="0"/>
              <a:t>XML:</a:t>
            </a:r>
            <a:r>
              <a:rPr lang="tr-TR" dirty="0"/>
              <a:t> Dinamiktir. Verileri saklamak ve farklı uygulamalar (örneğin bir banka uygulaması ile bir mobil uygulama) arasında bilgi alışverişi yapmak için kullanılır.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6501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FA7FA5-2EEC-0E34-2B15-FD530B62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İstemci (Browser) ve Sunucu (Server) İlişkisi: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78C385-2ABE-1412-48F9-1B8FAD7A9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İstemci (Browser) ve Sunucu (Server) arasındaki ilişki, dijital dünyanın en temel iletişim biçimidir ve </a:t>
            </a:r>
            <a:r>
              <a:rPr lang="tr-TR" b="1" dirty="0"/>
              <a:t>"İstemci-Sunucu Modeli"</a:t>
            </a:r>
            <a:r>
              <a:rPr lang="tr-TR" dirty="0"/>
              <a:t> olarak adlandırılır. </a:t>
            </a:r>
          </a:p>
          <a:p>
            <a:pPr marL="0" indent="0">
              <a:buNone/>
            </a:pPr>
            <a:r>
              <a:rPr lang="tr-TR" dirty="0"/>
              <a:t>Bu ilişkiyi bir restoran senaryosu üzerinden çok kolay anlayabiliriz: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28874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51F400-08A1-F2FA-ABA2-0FA3CF27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BD24E3-7107-CA94-F744-C8DC72A2B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1)Temel İstemci (Siz/Müşteri):</a:t>
            </a:r>
            <a:r>
              <a:rPr lang="tr-TR" dirty="0"/>
              <a:t> Bilgiye ulaşmak isteyen taraftır. Kullandığınız tarayıcı (Chrome, Safari, </a:t>
            </a:r>
            <a:r>
              <a:rPr lang="tr-TR" dirty="0" err="1"/>
              <a:t>Edge</a:t>
            </a:r>
            <a:r>
              <a:rPr lang="tr-TR" dirty="0"/>
              <a:t>) sizin adınıza "siparişi" veren garson gibidir.</a:t>
            </a:r>
          </a:p>
          <a:p>
            <a:pPr marL="0" indent="0">
              <a:buNone/>
            </a:pPr>
            <a:r>
              <a:rPr lang="tr-TR" b="1" dirty="0"/>
              <a:t>Rol Dağılımı:</a:t>
            </a:r>
          </a:p>
          <a:p>
            <a:r>
              <a:rPr lang="tr-TR" b="1" dirty="0"/>
              <a:t>Sunucu (Mutfak):</a:t>
            </a:r>
            <a:r>
              <a:rPr lang="tr-TR" dirty="0"/>
              <a:t> Verilerin, dosyaların ve web sitesi içeriğinin saklandığı çok güçlü bir bilgisayardır. Siparişi hazırlar ve geri gönderir.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51306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23C167-61C8-2FC9-C4C8-B92EA71F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466006" cy="315912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8D5B68-48AB-7713-6760-7D6BC31E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484"/>
            <a:ext cx="10105103" cy="3382298"/>
          </a:xfrm>
        </p:spPr>
        <p:txBody>
          <a:bodyPr>
            <a:normAutofit/>
          </a:bodyPr>
          <a:lstStyle/>
          <a:p>
            <a:r>
              <a:rPr lang="tr-TR" b="1" dirty="0"/>
              <a:t>2. Süreç Nasıl İşler? (Adım Adım):</a:t>
            </a:r>
          </a:p>
          <a:p>
            <a:r>
              <a:rPr lang="tr-TR" dirty="0"/>
              <a:t>Bir web sitesine gitmek istediğinizde (örneğin: google.com) şu döngü gerçekleşir:</a:t>
            </a:r>
          </a:p>
          <a:p>
            <a:r>
              <a:rPr lang="tr-TR" b="1" dirty="0"/>
              <a:t>İstek (</a:t>
            </a:r>
            <a:r>
              <a:rPr lang="tr-TR" b="1" dirty="0" err="1"/>
              <a:t>Request</a:t>
            </a:r>
            <a:r>
              <a:rPr lang="tr-TR" b="1" dirty="0"/>
              <a:t>):</a:t>
            </a:r>
            <a:r>
              <a:rPr lang="tr-TR" dirty="0"/>
              <a:t> Siz tarayıcıya adresi yazdığınızda, istemci internet üzerinden sunucuya bir "istek" paketi gönderir. </a:t>
            </a:r>
            <a:r>
              <a:rPr lang="tr-TR" i="1" dirty="0"/>
              <a:t>(</a:t>
            </a:r>
            <a:r>
              <a:rPr lang="tr-TR" i="1" dirty="0" err="1"/>
              <a:t>Örn</a:t>
            </a:r>
            <a:r>
              <a:rPr lang="tr-TR" i="1" dirty="0"/>
              <a:t>: "Bana ana sayfa dosyasını gönder.")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2291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32F257-FF86-C869-AB22-39060844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7F28C5-C970-B5D3-D5C8-709EC92170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54103"/>
            <a:ext cx="105868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İşleme: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Sunucu bu isteği alır, doğruluğunu kontrol eder ve istenen dosyaları (HTML, resimler vb.) veri tabanından veya diskinden bulur.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Yanıt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Sunucu hazırladığı dosyaları paketleyerek istemciye geri gönderir. 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Örn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"İşte istediğin dosya, afiyet olsun.")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Görselleştirme: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Tarayıcınız gelen karmaşık kodları (HTML/CSS) okur ve sizin anlayacağınız görsel bir web sayfasına dönüştürür.</a:t>
            </a:r>
          </a:p>
        </p:txBody>
      </p:sp>
    </p:spTree>
    <p:extLst>
      <p:ext uri="{BB962C8B-B14F-4D97-AF65-F5344CB8AC3E}">
        <p14:creationId xmlns:p14="http://schemas.microsoft.com/office/powerpoint/2010/main" val="3760037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C79CDB-D125-4148-068D-85ED8349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79764E-3A7D-8B65-A330-4E06A0FA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3)Temel Farklar:</a:t>
            </a:r>
          </a:p>
          <a:p>
            <a:r>
              <a:rPr lang="tr-TR" b="1" dirty="0"/>
              <a:t>İstemci:</a:t>
            </a:r>
            <a:r>
              <a:rPr lang="tr-TR" dirty="0"/>
              <a:t> Kullanıcıyla etkileşime girer. Görsellik ve hız ön plandadır. Herkesin bilgisayarı veya telefonu bir istemci olabilir.</a:t>
            </a:r>
          </a:p>
          <a:p>
            <a:r>
              <a:rPr lang="tr-TR" b="1" dirty="0"/>
              <a:t>Sunucu:</a:t>
            </a:r>
            <a:r>
              <a:rPr lang="tr-TR" dirty="0"/>
              <a:t> 7/24 açık kalmak zorundadır. Aynı anda binlerce farklı istemciye hizmet verebilecek kapasitededir. Genellikle devasa veri merkezlerinde bulunurlar.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83212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033057-86B4-AE5E-2D23-DC02A92E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FD478B-A341-B10A-9749-AE89F142D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Neden Bu Yapı Kullanılır?</a:t>
            </a:r>
          </a:p>
          <a:p>
            <a:r>
              <a:rPr lang="tr-TR" dirty="0"/>
              <a:t>Eğer her web sitesinin verisi sizin bilgisayarınızda olsaydı, depolama alanınız asla yetmezdi. Bu model sayesinde veriler </a:t>
            </a:r>
            <a:r>
              <a:rPr lang="tr-TR" b="1" dirty="0"/>
              <a:t>merkezi</a:t>
            </a:r>
            <a:r>
              <a:rPr lang="tr-TR" dirty="0"/>
              <a:t> bir yerde (sunucuda) güvenle tutulur, biz sadece ihtiyacımız olduğunda onlara </a:t>
            </a:r>
            <a:r>
              <a:rPr lang="tr-TR" b="1" dirty="0"/>
              <a:t>erişiriz.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39469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65A19A-AC5B-1708-3FC6-0740159E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7" y="365125"/>
            <a:ext cx="11042073" cy="1744230"/>
          </a:xfrm>
        </p:spPr>
        <p:txBody>
          <a:bodyPr/>
          <a:lstStyle/>
          <a:p>
            <a:r>
              <a:rPr lang="tr-TR" dirty="0"/>
              <a:t>Kaynakça: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F2B487-B0F3-3C25-8951-4EDA2BCD50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692" y="2236038"/>
            <a:ext cx="118456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Yapay Zeka Desteği: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 sunumun hazırlanma sürecinde (içerik yapılandırma, dil kontrolü ve teknik terimlerin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açıklanması aşamalarında)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yapay zeka modelinden faydalanılmıştır.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 Referansı: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Brookshear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J. G., &amp;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Brylow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D.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Science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(Ödev talimatındaki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Chapter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 referansı bu kitaba aittir).</a:t>
            </a:r>
          </a:p>
        </p:txBody>
      </p:sp>
    </p:spTree>
    <p:extLst>
      <p:ext uri="{BB962C8B-B14F-4D97-AF65-F5344CB8AC3E}">
        <p14:creationId xmlns:p14="http://schemas.microsoft.com/office/powerpoint/2010/main" val="39240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1680</Words>
  <Application>Microsoft Office PowerPoint</Application>
  <PresentationFormat>Geniş ekran</PresentationFormat>
  <Paragraphs>113</Paragraphs>
  <Slides>26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Teması</vt:lpstr>
      <vt:lpstr>Bilgisayar Mühendisliğine Giriş</vt:lpstr>
      <vt:lpstr>İnternet Nedir ve Ne İşe Yarar?</vt:lpstr>
      <vt:lpstr>İnternet Tarihi:</vt:lpstr>
      <vt:lpstr>PowerPoint Sunusu</vt:lpstr>
      <vt:lpstr>PowerPoint Sunusu</vt:lpstr>
      <vt:lpstr>WEB Nedir?</vt:lpstr>
      <vt:lpstr>PowerPoint Sunusu</vt:lpstr>
      <vt:lpstr>İnternet ve WEB Arasındaki Fark Nedir?</vt:lpstr>
      <vt:lpstr>PowerPoint Sunusu</vt:lpstr>
      <vt:lpstr>PowerPoint Sunusu</vt:lpstr>
      <vt:lpstr>HTML Nedir?</vt:lpstr>
      <vt:lpstr>PowerPoint Sunusu</vt:lpstr>
      <vt:lpstr>Basit bir WEB Sayfası:</vt:lpstr>
      <vt:lpstr>XML Nedir?</vt:lpstr>
      <vt:lpstr>PowerPoint Sunusu</vt:lpstr>
      <vt:lpstr>Telefon Rehberi için XML Kullanımı:</vt:lpstr>
      <vt:lpstr>HTML ve XML Arasındaki Farklar:</vt:lpstr>
      <vt:lpstr>PowerPoint Sunusu</vt:lpstr>
      <vt:lpstr>PowerPoint Sunusu</vt:lpstr>
      <vt:lpstr>İstemci (Browser) ve Sunucu (Server) İlişkisi:</vt:lpstr>
      <vt:lpstr>PowerPoint Sunusu</vt:lpstr>
      <vt:lpstr>PowerPoint Sunusu</vt:lpstr>
      <vt:lpstr>PowerPoint Sunusu</vt:lpstr>
      <vt:lpstr>PowerPoint Sunusu</vt:lpstr>
      <vt:lpstr>PowerPoint Sunusu</vt:lpstr>
      <vt:lpstr>Kaynakça: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FERIDE SAYGI YALCINKAYA</dc:creator>
  <cp:lastModifiedBy>Feride Saygı Yalçınkaya</cp:lastModifiedBy>
  <cp:revision>1</cp:revision>
  <dcterms:created xsi:type="dcterms:W3CDTF">2026-01-08T10:08:19Z</dcterms:created>
  <dcterms:modified xsi:type="dcterms:W3CDTF">2026-01-11T11:30:19Z</dcterms:modified>
</cp:coreProperties>
</file>